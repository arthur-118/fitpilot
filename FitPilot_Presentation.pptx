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-1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rthur-118/FitPilo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1005840"/>
            <a:ext cx="2194560" cy="2194560"/>
          </a:xfrm>
          <a:prstGeom prst="ellipse">
            <a:avLst/>
          </a:prstGeom>
          <a:solidFill>
            <a:srgbClr val="0FD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21240" y="1417320"/>
            <a:ext cx="1371600" cy="1371600"/>
          </a:xfrm>
          <a:prstGeom prst="ellipse">
            <a:avLst/>
          </a:prstGeom>
          <a:solidFill>
            <a:srgbClr val="E5F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 i="0">
                <a:solidFill>
                  <a:srgbClr val="02743B"/>
                </a:solidFill>
                <a:latin typeface="Calibri"/>
              </a:rPr>
              <a:t>FitPilot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171717"/>
                </a:solidFill>
                <a:latin typeface="Calibri"/>
              </a:rPr>
              <a:t>Your AI Fitness Coach that Sees, Thinks and Tracks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291840"/>
            <a:ext cx="4206240" cy="27940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52525B"/>
                </a:solidFill>
                <a:latin typeface="Calibri"/>
              </a:rPr>
              <a:t>A Weather-Aware, Recovery-Driven, Pose-Checking Coach for Android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20640"/>
            <a:ext cx="105156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71717"/>
                </a:solidFill>
                <a:latin typeface="Calibri"/>
              </a:rPr>
              <a:t>Mobile Computing </a:t>
            </a:r>
            <a:r>
              <a:rPr sz="1500" b="0" i="0" dirty="0" smtClean="0">
                <a:solidFill>
                  <a:srgbClr val="171717"/>
                </a:solidFill>
                <a:latin typeface="Calibri"/>
              </a:rPr>
              <a:t>Project</a:t>
            </a:r>
            <a:endParaRPr sz="1500" b="0" i="0" dirty="0">
              <a:solidFill>
                <a:srgbClr val="171717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71717"/>
                </a:solidFill>
                <a:latin typeface="Calibri"/>
              </a:rPr>
              <a:t>Team: </a:t>
            </a:r>
            <a:r>
              <a:rPr lang="en-US" sz="1500" dirty="0" smtClean="0">
                <a:solidFill>
                  <a:srgbClr val="171717"/>
                </a:solidFill>
                <a:latin typeface="Calibri"/>
              </a:rPr>
              <a:t>207</a:t>
            </a:r>
            <a:r>
              <a:rPr sz="1500" b="0" i="0" dirty="0" smtClean="0">
                <a:solidFill>
                  <a:srgbClr val="171717"/>
                </a:solidFill>
                <a:latin typeface="Calibri"/>
              </a:rPr>
              <a:t>       Studen</a:t>
            </a:r>
            <a:r>
              <a:rPr lang="en-US" sz="1500" dirty="0" smtClean="0">
                <a:solidFill>
                  <a:srgbClr val="171717"/>
                </a:solidFill>
                <a:latin typeface="Calibri"/>
              </a:rPr>
              <a:t>ts: </a:t>
            </a:r>
            <a:r>
              <a:rPr lang="en-US" sz="1500" dirty="0" err="1" smtClean="0">
                <a:solidFill>
                  <a:srgbClr val="171717"/>
                </a:solidFill>
                <a:latin typeface="Calibri"/>
              </a:rPr>
              <a:t>Xie</a:t>
            </a:r>
            <a:r>
              <a:rPr lang="en-US" sz="1500" dirty="0" smtClean="0">
                <a:solidFill>
                  <a:srgbClr val="171717"/>
                </a:solidFill>
                <a:latin typeface="Calibri"/>
              </a:rPr>
              <a:t> </a:t>
            </a:r>
            <a:r>
              <a:rPr lang="en-US" sz="1500" dirty="0" err="1" smtClean="0">
                <a:solidFill>
                  <a:srgbClr val="171717"/>
                </a:solidFill>
                <a:latin typeface="Calibri"/>
              </a:rPr>
              <a:t>Yuntian</a:t>
            </a:r>
            <a:r>
              <a:rPr lang="en-US" sz="1500" dirty="0" smtClean="0">
                <a:solidFill>
                  <a:srgbClr val="171717"/>
                </a:solidFill>
                <a:latin typeface="Calibri"/>
              </a:rPr>
              <a:t>, Li </a:t>
            </a:r>
            <a:r>
              <a:rPr lang="en-US" sz="1500" dirty="0" err="1" smtClean="0">
                <a:solidFill>
                  <a:srgbClr val="171717"/>
                </a:solidFill>
                <a:latin typeface="Calibri"/>
              </a:rPr>
              <a:t>Xinye</a:t>
            </a:r>
            <a:r>
              <a:rPr lang="en-US" sz="1500" dirty="0" smtClean="0">
                <a:solidFill>
                  <a:srgbClr val="171717"/>
                </a:solidFill>
                <a:latin typeface="Calibri"/>
              </a:rPr>
              <a:t>, Wang </a:t>
            </a:r>
            <a:r>
              <a:rPr lang="en-US" sz="1500" dirty="0" err="1" smtClean="0">
                <a:solidFill>
                  <a:srgbClr val="171717"/>
                </a:solidFill>
                <a:latin typeface="Calibri"/>
              </a:rPr>
              <a:t>Haoyu</a:t>
            </a:r>
            <a:endParaRPr sz="1500" b="0" i="0" dirty="0">
              <a:solidFill>
                <a:srgbClr val="171717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 dirty="0">
                <a:solidFill>
                  <a:srgbClr val="52525B"/>
                </a:solidFill>
                <a:latin typeface="Calibri"/>
              </a:rPr>
              <a:t>Android  •  </a:t>
            </a:r>
            <a:r>
              <a:rPr sz="1200" b="0" i="0" dirty="0" err="1">
                <a:solidFill>
                  <a:srgbClr val="52525B"/>
                </a:solidFill>
                <a:latin typeface="Calibri"/>
              </a:rPr>
              <a:t>Kotlin</a:t>
            </a:r>
            <a:r>
              <a:rPr sz="1200" b="0" i="0" dirty="0">
                <a:solidFill>
                  <a:srgbClr val="52525B"/>
                </a:solidFill>
                <a:latin typeface="Calibri"/>
              </a:rPr>
              <a:t>  •  Jetpack Compose  •  </a:t>
            </a:r>
            <a:r>
              <a:rPr sz="1200" b="0" i="0" dirty="0" err="1">
                <a:solidFill>
                  <a:srgbClr val="52525B"/>
                </a:solidFill>
                <a:latin typeface="Calibri"/>
              </a:rPr>
              <a:t>TensorFlow</a:t>
            </a:r>
            <a:r>
              <a:rPr sz="1200" b="0" i="0" dirty="0">
                <a:solidFill>
                  <a:srgbClr val="52525B"/>
                </a:solidFill>
                <a:latin typeface="Calibri"/>
              </a:rPr>
              <a:t> Lite  •  Room  •  BLE  •  TTS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7010"/>
            <a:ext cx="9601200" cy="9746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01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 err="1">
                <a:solidFill>
                  <a:srgbClr val="171717"/>
                </a:solidFill>
                <a:latin typeface="Calibri"/>
              </a:rPr>
              <a:t>FitPilot</a:t>
            </a:r>
            <a:r>
              <a:rPr sz="3000" b="1" i="0" dirty="0">
                <a:solidFill>
                  <a:srgbClr val="171717"/>
                </a:solidFill>
                <a:latin typeface="Calibri"/>
              </a:rPr>
              <a:t> </a:t>
            </a:r>
            <a:r>
              <a:rPr lang="en-US" sz="3000" b="1" i="0" dirty="0" smtClean="0">
                <a:solidFill>
                  <a:srgbClr val="171717"/>
                </a:solidFill>
                <a:latin typeface="Calibri"/>
              </a:rPr>
              <a:t>Overview</a:t>
            </a:r>
            <a:endParaRPr sz="3000" b="1" i="0" dirty="0">
              <a:solidFill>
                <a:srgbClr val="171717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1021349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Idea in one sentence: decide what to train, watch you do it, and remember for tomorrow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39" y="1600200"/>
            <a:ext cx="6443831" cy="158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dirty="0">
                <a:solidFill>
                  <a:srgbClr val="171717"/>
                </a:solidFill>
                <a:latin typeface="Calibri"/>
              </a:rPr>
              <a:t>•  A personal AI fitness coach </a:t>
            </a:r>
            <a:r>
              <a:rPr sz="1600" dirty="0">
                <a:solidFill>
                  <a:srgbClr val="52525B"/>
                </a:solidFill>
                <a:latin typeface="Calibri"/>
              </a:rPr>
              <a:t>in your pocket — no course picking required.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dirty="0">
                <a:solidFill>
                  <a:srgbClr val="171717"/>
                </a:solidFill>
                <a:latin typeface="Calibri"/>
              </a:rPr>
              <a:t>•  It thinks: </a:t>
            </a:r>
            <a:r>
              <a:rPr sz="1600" dirty="0">
                <a:solidFill>
                  <a:srgbClr val="52525B"/>
                </a:solidFill>
                <a:latin typeface="Calibri"/>
              </a:rPr>
              <a:t>weather + recovery + preferences → today's plan.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dirty="0">
                <a:solidFill>
                  <a:srgbClr val="171717"/>
                </a:solidFill>
                <a:latin typeface="Calibri"/>
              </a:rPr>
              <a:t>•  It sees: </a:t>
            </a:r>
            <a:r>
              <a:rPr sz="1600" dirty="0">
                <a:solidFill>
                  <a:srgbClr val="52525B"/>
                </a:solidFill>
                <a:latin typeface="Calibri"/>
              </a:rPr>
              <a:t>camera-based pose AI counts reps and checks your form.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600" b="1" dirty="0">
                <a:solidFill>
                  <a:srgbClr val="171717"/>
                </a:solidFill>
                <a:latin typeface="Calibri"/>
              </a:rPr>
              <a:t>•  It tracks: </a:t>
            </a:r>
            <a:r>
              <a:rPr sz="1600" dirty="0">
                <a:solidFill>
                  <a:srgbClr val="52525B"/>
                </a:solidFill>
                <a:latin typeface="Calibri"/>
              </a:rPr>
              <a:t>running + strength logs unite in one local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7297" y="4127052"/>
            <a:ext cx="2373257" cy="17478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600" b="1" dirty="0">
                <a:solidFill>
                  <a:srgbClr val="02743B"/>
                </a:solidFill>
                <a:latin typeface="Calibri"/>
              </a:rPr>
              <a:t>THINKS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52525B"/>
                </a:solidFill>
                <a:latin typeface="Calibri"/>
              </a:rPr>
              <a:t>Daily Decision Engine
weather + AQI +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0250" y="4127051"/>
            <a:ext cx="2555538" cy="17478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600" b="1" dirty="0">
                <a:solidFill>
                  <a:srgbClr val="02743B"/>
                </a:solidFill>
                <a:latin typeface="Calibri"/>
              </a:rPr>
              <a:t>SEES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52525B"/>
                </a:solidFill>
                <a:latin typeface="Calibri"/>
              </a:rPr>
              <a:t>Real-Time Form Coach
</a:t>
            </a:r>
            <a:r>
              <a:rPr sz="1100" dirty="0" err="1">
                <a:solidFill>
                  <a:srgbClr val="52525B"/>
                </a:solidFill>
                <a:latin typeface="Calibri"/>
              </a:rPr>
              <a:t>MoveNet</a:t>
            </a:r>
            <a:r>
              <a:rPr sz="1100" dirty="0">
                <a:solidFill>
                  <a:srgbClr val="52525B"/>
                </a:solidFill>
                <a:latin typeface="Calibri"/>
              </a:rPr>
              <a:t> on-device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7193" y="4127051"/>
            <a:ext cx="2525536" cy="17478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9728" rtlCol="0" anchor="ctr"/>
          <a:lstStyle/>
          <a:p>
            <a:pPr algn="ctr"/>
            <a:r>
              <a:rPr sz="1600" b="1" dirty="0">
                <a:solidFill>
                  <a:srgbClr val="02743B"/>
                </a:solidFill>
                <a:latin typeface="Calibri"/>
              </a:rPr>
              <a:t>TRACKS</a:t>
            </a:r>
          </a:p>
          <a:p>
            <a:pPr algn="ctr">
              <a:spcBef>
                <a:spcPts val="400"/>
              </a:spcBef>
            </a:pPr>
            <a:r>
              <a:rPr sz="1100" dirty="0">
                <a:solidFill>
                  <a:srgbClr val="52525B"/>
                </a:solidFill>
                <a:latin typeface="Calibri"/>
              </a:rPr>
              <a:t>Unified Training Log
GPS / BLE HR / reps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2647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02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The Gap We Address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299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Three pain points of working out alone → three answers FitPilot provides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71717"/>
                </a:solidFill>
                <a:latin typeface="Calibri"/>
              </a:rPr>
              <a:t>Pains (today)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71717"/>
                </a:solidFill>
                <a:latin typeface="Calibri"/>
              </a:rPr>
              <a:t>FitPilot's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5669280" cy="105156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>
                <a:solidFill>
                  <a:srgbClr val="52525B"/>
                </a:solidFill>
                <a:latin typeface="Calibri"/>
              </a:rPr>
              <a:t>Not sure what to train today — too many choices, no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5394960" cy="1051560"/>
          </a:xfrm>
          <a:prstGeom prst="roundRect">
            <a:avLst/>
          </a:prstGeom>
          <a:solidFill>
            <a:srgbClr val="E5FFF2"/>
          </a:solidFill>
          <a:ln w="1270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>
                <a:solidFill>
                  <a:srgbClr val="02743B"/>
                </a:solidFill>
                <a:latin typeface="Calibri"/>
              </a:rPr>
              <a:t>Weather + AQI + recovery-aware daily recommendation.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5669280" cy="105156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>
                <a:solidFill>
                  <a:srgbClr val="52525B"/>
                </a:solidFill>
                <a:latin typeface="Calibri"/>
              </a:rPr>
              <a:t>No one watches your form — reps get sloppy, risk of injury.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5394960" cy="1051560"/>
          </a:xfrm>
          <a:prstGeom prst="roundRect">
            <a:avLst/>
          </a:prstGeom>
          <a:solidFill>
            <a:srgbClr val="E5FFF2"/>
          </a:solidFill>
          <a:ln w="1270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>
                <a:solidFill>
                  <a:srgbClr val="02743B"/>
                </a:solidFill>
                <a:latin typeface="Calibri"/>
              </a:rPr>
              <a:t>On-device pose AI counts reps and flags bad form with voice.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63440"/>
            <a:ext cx="5669280" cy="105156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>
                <a:solidFill>
                  <a:srgbClr val="52525B"/>
                </a:solidFill>
                <a:latin typeface="Calibri"/>
              </a:rPr>
              <a:t>Data scattered — running and strength live in separate apps.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663440"/>
            <a:ext cx="5394960" cy="1051560"/>
          </a:xfrm>
          <a:prstGeom prst="roundRect">
            <a:avLst/>
          </a:prstGeom>
          <a:solidFill>
            <a:srgbClr val="E5FFF2"/>
          </a:solidFill>
          <a:ln w="1270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>
                <a:solidFill>
                  <a:srgbClr val="02743B"/>
                </a:solidFill>
                <a:latin typeface="Calibri"/>
              </a:rPr>
              <a:t>One unified log that adjusts tomorrow's intensity.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71717"/>
                </a:solidFill>
                <a:latin typeface="Calibri"/>
              </a:rPr>
              <a:t>Niche: few apps combine decision + live feedback + unified logs into one local, explainable coach.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57010"/>
            <a:ext cx="9601200" cy="9746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03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Related Apps &amp; Their </a:t>
            </a:r>
            <a:r>
              <a:rPr sz="3000" b="1" i="0" dirty="0" smtClean="0">
                <a:solidFill>
                  <a:srgbClr val="171717"/>
                </a:solidFill>
                <a:latin typeface="Calibri"/>
              </a:rPr>
              <a:t>Limit</a:t>
            </a:r>
            <a:r>
              <a:rPr lang="en-US" sz="3000" b="1" i="0" dirty="0" smtClean="0">
                <a:solidFill>
                  <a:srgbClr val="171717"/>
                </a:solidFill>
                <a:latin typeface="Calibri"/>
              </a:rPr>
              <a:t>ation</a:t>
            </a:r>
            <a:r>
              <a:rPr sz="3000" b="1" i="0" dirty="0" smtClean="0">
                <a:solidFill>
                  <a:srgbClr val="171717"/>
                </a:solidFill>
                <a:latin typeface="Calibri"/>
              </a:rPr>
              <a:t>s</a:t>
            </a:r>
            <a:endParaRPr sz="3000" b="1" i="0" dirty="0">
              <a:solidFill>
                <a:srgbClr val="171717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1207" y="1025682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What each app does well — and what it is missing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664350"/>
              </p:ext>
            </p:extLst>
          </p:nvPr>
        </p:nvGraphicFramePr>
        <p:xfrm>
          <a:off x="548640" y="1600200"/>
          <a:ext cx="1110996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120640"/>
                <a:gridCol w="4434840"/>
              </a:tblGrid>
              <a:tr h="66294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App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Key features / components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lacks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Fitbod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Daily plans from muscle recovery, equipment, history (cloud, paid)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No weather dimension, no live form feedback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 b="0" dirty="0" smtClean="0">
                          <a:solidFill>
                            <a:srgbClr val="171717"/>
                          </a:solidFill>
                          <a:latin typeface="Calibri"/>
                        </a:rPr>
                        <a:t>Keep</a:t>
                      </a:r>
                      <a:endParaRPr sz="1300" b="0" dirty="0">
                        <a:solidFill>
                          <a:srgbClr val="171717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Course library, AI form scoring on follow-along videos, running+strength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Two separate systems; AI is server-side; pick-and-play plans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71717"/>
                          </a:solidFill>
                          <a:latin typeface="Calibri"/>
                        </a:rPr>
                        <a:t>Good Habits </a:t>
                      </a:r>
                      <a:r>
                        <a:rPr sz="1300" b="0" dirty="0" smtClean="0">
                          <a:solidFill>
                            <a:srgbClr val="171717"/>
                          </a:solidFill>
                          <a:latin typeface="Calibri"/>
                        </a:rPr>
                        <a:t> </a:t>
                      </a:r>
                      <a:r>
                        <a:rPr lang="en-US" sz="1300" b="0" dirty="0" smtClean="0">
                          <a:solidFill>
                            <a:srgbClr val="171717"/>
                          </a:solidFill>
                          <a:latin typeface="Calibri"/>
                        </a:rPr>
                        <a:t>(</a:t>
                      </a:r>
                      <a:r>
                        <a:rPr sz="1300" b="0" dirty="0" smtClean="0">
                          <a:solidFill>
                            <a:srgbClr val="171717"/>
                          </a:solidFill>
                          <a:latin typeface="Calibri"/>
                        </a:rPr>
                        <a:t>base</a:t>
                      </a:r>
                      <a:r>
                        <a:rPr lang="en-US" sz="1300" b="0" dirty="0" smtClean="0">
                          <a:solidFill>
                            <a:srgbClr val="171717"/>
                          </a:solidFill>
                          <a:latin typeface="Calibri"/>
                        </a:rPr>
                        <a:t>)</a:t>
                      </a:r>
                      <a:endParaRPr sz="1300" b="0" dirty="0">
                        <a:solidFill>
                          <a:srgbClr val="171717"/>
                        </a:solidFill>
                        <a:latin typeface="Calibri"/>
                      </a:endParaRP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On-device TF Lite pose, 90+ exercises, rep counting, streaks, CSV (open source)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Rep count only — no recommendation, no weather, no voice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HeartRunner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BLE heart-rate strap, GPS track, pace, Chinese voice (open source, MIT)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Running only — no strength tracking, no recommendation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wger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500+ exercise database, workout manager, REST API (open source)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Web/Flutter, not native Android, no AI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8307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04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Open Source We Build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1349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Reuse code, not copy it — licenses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126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Good Habits (primary base) </a:t>
            </a:r>
            <a:r>
              <a:rPr sz="1500">
                <a:solidFill>
                  <a:srgbClr val="52525B"/>
                </a:solidFill>
                <a:latin typeface="Calibri"/>
              </a:rPr>
              <a:t>MIT-visible GitHub project: pose-pipeline, Room data layer, Compose UI patterns — the exact stack we extend.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HeartRunner </a:t>
            </a:r>
            <a:r>
              <a:rPr sz="1500">
                <a:solidFill>
                  <a:srgbClr val="52525B"/>
                </a:solidFill>
                <a:latin typeface="Calibri"/>
              </a:rPr>
              <a:t>BLE heart-rate connection + GPS + Chinese voice, MIT — we mirror its GATT code for running.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wger </a:t>
            </a:r>
            <a:r>
              <a:rPr sz="1500">
                <a:solidFill>
                  <a:srgbClr val="52525B"/>
                </a:solidFill>
                <a:latin typeface="Calibri"/>
              </a:rPr>
              <a:t>AGPL — we only reference its data schema, we copy no code (avoids license contamination).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Exercise dataset </a:t>
            </a:r>
            <a:r>
              <a:rPr sz="1500">
                <a:solidFill>
                  <a:srgbClr val="52525B"/>
                </a:solidFill>
                <a:latin typeface="Calibri"/>
              </a:rPr>
              <a:t>Bundled locally from Good Habits' library and open exercise JSON, so the app works fully offline.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7727" y="4592320"/>
            <a:ext cx="4709160" cy="1965960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EFAA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tlCol="0" anchor="ctr"/>
          <a:lstStyle/>
          <a:p>
            <a:pPr algn="ctr"/>
            <a:r>
              <a:rPr sz="1400" b="1" dirty="0">
                <a:solidFill>
                  <a:srgbClr val="9A6A00"/>
                </a:solidFill>
                <a:latin typeface="Calibri"/>
              </a:rPr>
              <a:t>License note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52525B"/>
                </a:solidFill>
                <a:latin typeface="Calibri"/>
              </a:rPr>
              <a:t>• Read AGPL / MIT terms carefully.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52525B"/>
                </a:solidFill>
                <a:latin typeface="Calibri"/>
              </a:rPr>
              <a:t>• State what we reuse in docs &amp; commit log.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52525B"/>
                </a:solidFill>
                <a:latin typeface="Calibri"/>
              </a:rPr>
              <a:t>• Original contribution ≠ re-skinned app (report title/icon only).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5120" y="1499906"/>
            <a:ext cx="4885190" cy="269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8307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05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New Features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8 additions over the chosen base — mapped to the assessment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01   </a:t>
            </a:r>
            <a:r>
              <a:rPr sz="1400" b="1">
                <a:solidFill>
                  <a:srgbClr val="171717"/>
                </a:solidFill>
                <a:latin typeface="Calibri"/>
              </a:rPr>
              <a:t>Equipment-Aware Daily Recommendation</a:t>
            </a:r>
          </a:p>
          <a:p>
            <a:pPr>
              <a:spcBef>
                <a:spcPts val="300"/>
              </a:spcBef>
            </a:pPr>
            <a:r>
              <a:rPr sz="1100" i="1">
                <a:solidFill>
                  <a:srgbClr val="52525B"/>
                </a:solidFill>
                <a:latin typeface="Calibri"/>
              </a:rPr>
              <a:t>Process  • 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00200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02   </a:t>
            </a:r>
            <a:r>
              <a:rPr sz="1400" b="1">
                <a:solidFill>
                  <a:srgbClr val="171717"/>
                </a:solidFill>
                <a:latin typeface="Calibri"/>
              </a:rPr>
              <a:t>Recovery Score (0–100)</a:t>
            </a:r>
          </a:p>
          <a:p>
            <a:pPr>
              <a:spcBef>
                <a:spcPts val="300"/>
              </a:spcBef>
            </a:pPr>
            <a:r>
              <a:rPr sz="1100" i="1">
                <a:solidFill>
                  <a:srgbClr val="52525B"/>
                </a:solidFill>
                <a:latin typeface="Calibri"/>
              </a:rPr>
              <a:t>Process  • 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07792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03   </a:t>
            </a:r>
            <a:r>
              <a:rPr sz="1400" b="1">
                <a:solidFill>
                  <a:srgbClr val="171717"/>
                </a:solidFill>
                <a:latin typeface="Calibri"/>
              </a:rPr>
              <a:t>Real-Time Pose Form Check (bench / squat / plank)</a:t>
            </a:r>
          </a:p>
          <a:p>
            <a:pPr>
              <a:spcBef>
                <a:spcPts val="300"/>
              </a:spcBef>
            </a:pPr>
            <a:r>
              <a:rPr sz="1100" i="1">
                <a:solidFill>
                  <a:srgbClr val="52525B"/>
                </a:solidFill>
                <a:latin typeface="Calibri"/>
              </a:rPr>
              <a:t>Process  • 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907792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04   </a:t>
            </a:r>
            <a:r>
              <a:rPr sz="1400" b="1">
                <a:solidFill>
                  <a:srgbClr val="171717"/>
                </a:solidFill>
                <a:latin typeface="Calibri"/>
              </a:rPr>
              <a:t>Weather + AQI Awareness</a:t>
            </a:r>
          </a:p>
          <a:p>
            <a:pPr>
              <a:spcBef>
                <a:spcPts val="300"/>
              </a:spcBef>
            </a:pPr>
            <a:r>
              <a:rPr sz="1100" i="1">
                <a:solidFill>
                  <a:srgbClr val="52525B"/>
                </a:solidFill>
                <a:latin typeface="Calibri"/>
              </a:rPr>
              <a:t>Input  • 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15384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 dirty="0">
                <a:solidFill>
                  <a:srgbClr val="02743B"/>
                </a:solidFill>
                <a:latin typeface="Calibri"/>
              </a:rPr>
              <a:t>05   </a:t>
            </a:r>
            <a:r>
              <a:rPr sz="1400" b="1" dirty="0">
                <a:solidFill>
                  <a:srgbClr val="171717"/>
                </a:solidFill>
                <a:latin typeface="Calibri"/>
              </a:rPr>
              <a:t>TTS Voice Coaching + HIIT + Cool-down</a:t>
            </a:r>
          </a:p>
          <a:p>
            <a:pPr>
              <a:spcBef>
                <a:spcPts val="300"/>
              </a:spcBef>
            </a:pPr>
            <a:r>
              <a:rPr sz="1100" i="1" dirty="0">
                <a:solidFill>
                  <a:srgbClr val="52525B"/>
                </a:solidFill>
                <a:latin typeface="Calibri"/>
              </a:rPr>
              <a:t>Output / UX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215384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06   </a:t>
            </a:r>
            <a:r>
              <a:rPr sz="1400" b="1">
                <a:solidFill>
                  <a:srgbClr val="171717"/>
                </a:solidFill>
                <a:latin typeface="Calibri"/>
              </a:rPr>
              <a:t>Running: GPS + BLE Heart Rate</a:t>
            </a:r>
          </a:p>
          <a:p>
            <a:pPr>
              <a:spcBef>
                <a:spcPts val="300"/>
              </a:spcBef>
            </a:pPr>
            <a:r>
              <a:rPr sz="1100" i="1">
                <a:solidFill>
                  <a:srgbClr val="52525B"/>
                </a:solidFill>
                <a:latin typeface="Calibri"/>
              </a:rPr>
              <a:t>Input  • 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22976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07   </a:t>
            </a:r>
            <a:r>
              <a:rPr sz="1400" b="1">
                <a:solidFill>
                  <a:srgbClr val="171717"/>
                </a:solidFill>
                <a:latin typeface="Calibri"/>
              </a:rPr>
              <a:t>Unified Multi-Scenario Closed Loop</a:t>
            </a:r>
          </a:p>
          <a:p>
            <a:pPr>
              <a:spcBef>
                <a:spcPts val="300"/>
              </a:spcBef>
            </a:pPr>
            <a:r>
              <a:rPr sz="1100" i="1">
                <a:solidFill>
                  <a:srgbClr val="52525B"/>
                </a:solidFill>
                <a:latin typeface="Calibri"/>
              </a:rPr>
              <a:t>Storage  • 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5522976"/>
            <a:ext cx="54864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tlCol="0" anchor="ctr"/>
          <a:lstStyle/>
          <a:p>
            <a:pPr algn="ctr"/>
            <a:r>
              <a:rPr sz="1300" b="1" dirty="0">
                <a:solidFill>
                  <a:srgbClr val="02743B"/>
                </a:solidFill>
                <a:latin typeface="Calibri"/>
              </a:rPr>
              <a:t>08   </a:t>
            </a:r>
            <a:r>
              <a:rPr sz="1400" b="1" dirty="0">
                <a:solidFill>
                  <a:srgbClr val="171717"/>
                </a:solidFill>
                <a:latin typeface="Calibri"/>
              </a:rPr>
              <a:t>Jump-Rope Auto </a:t>
            </a:r>
            <a:r>
              <a:rPr sz="1400" b="1" dirty="0" smtClean="0">
                <a:solidFill>
                  <a:srgbClr val="171717"/>
                </a:solidFill>
                <a:latin typeface="Calibri"/>
              </a:rPr>
              <a:t>Counting</a:t>
            </a:r>
            <a:r>
              <a:rPr lang="en-US" sz="1400" b="1" dirty="0">
                <a:solidFill>
                  <a:srgbClr val="171717"/>
                </a:solidFill>
                <a:latin typeface="Calibri"/>
              </a:rPr>
              <a:t> </a:t>
            </a:r>
            <a:r>
              <a:rPr lang="en-US" sz="1400" b="1" dirty="0" smtClean="0">
                <a:solidFill>
                  <a:srgbClr val="171717"/>
                </a:solidFill>
                <a:latin typeface="Calibri"/>
              </a:rPr>
              <a:t>(Additional)</a:t>
            </a:r>
            <a:endParaRPr sz="1400" b="1" dirty="0">
              <a:solidFill>
                <a:srgbClr val="171717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100" i="1" dirty="0">
                <a:solidFill>
                  <a:srgbClr val="52525B"/>
                </a:solidFill>
                <a:latin typeface="Calibri"/>
              </a:rPr>
              <a:t>Process  • 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36236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06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Feature 1 — Daily 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Explainable pipeline: filter first, then 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852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71717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5852160" cy="217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Onboarding quiz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→ user profile: scene (home / gym), equipment inventory, goal, frequency, level.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Tagged exercise library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each exercise carries type (cardio / strength), equipment, muscle, difficulty.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Hard filter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if equipment does not match → exercise is removed.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Weighted scoring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weather/AQI + recovery + preference + muscle balance → rank, pick top 3</a:t>
            </a:r>
            <a:r>
              <a:rPr sz="1500" dirty="0" smtClean="0">
                <a:solidFill>
                  <a:srgbClr val="52525B"/>
                </a:solidFill>
                <a:latin typeface="Calibri"/>
              </a:rPr>
              <a:t>.</a:t>
            </a:r>
            <a:endParaRPr sz="1500" dirty="0">
              <a:solidFill>
                <a:srgbClr val="52525B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75120" y="1691640"/>
            <a:ext cx="4937760" cy="749808"/>
          </a:xfrm>
          <a:prstGeom prst="roundRect">
            <a:avLst/>
          </a:prstGeom>
          <a:solidFill>
            <a:srgbClr val="E5FFF2"/>
          </a:solidFill>
          <a:ln w="1778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Exercise library</a:t>
            </a:r>
          </a:p>
          <a:p>
            <a:pPr algn="ctr"/>
            <a:r>
              <a:rPr sz="1000">
                <a:solidFill>
                  <a:srgbClr val="02743B"/>
                </a:solidFill>
                <a:latin typeface="Calibri"/>
              </a:rPr>
              <a:t>90+ tagged exercises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406" y="2606040"/>
            <a:ext cx="3555187" cy="749808"/>
          </a:xfrm>
          <a:prstGeom prst="roundRect">
            <a:avLst/>
          </a:prstGeom>
          <a:solidFill>
            <a:srgbClr val="E5FFF2"/>
          </a:solidFill>
          <a:ln w="1778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User profile filter</a:t>
            </a:r>
          </a:p>
          <a:p>
            <a:pPr algn="ctr"/>
            <a:r>
              <a:rPr sz="1000">
                <a:solidFill>
                  <a:srgbClr val="02743B"/>
                </a:solidFill>
                <a:latin typeface="Calibri"/>
              </a:rPr>
              <a:t>scene + equipment + goal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3520440"/>
            <a:ext cx="2468880" cy="749808"/>
          </a:xfrm>
          <a:prstGeom prst="roundRect">
            <a:avLst/>
          </a:prstGeom>
          <a:solidFill>
            <a:srgbClr val="0F6E8C"/>
          </a:solidFill>
          <a:ln w="1778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Weather / AQI gate</a:t>
            </a:r>
          </a:p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outdoor ↔ indoor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434840"/>
            <a:ext cx="4206240" cy="822960"/>
          </a:xfrm>
          <a:prstGeom prst="roundRect">
            <a:avLst/>
          </a:prstGeom>
          <a:solidFill>
            <a:srgbClr val="0FD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2743B"/>
                </a:solidFill>
                <a:latin typeface="Calibri"/>
              </a:rPr>
              <a:t>Score = Σ weight × dimension  →  Top 3 exercises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4283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07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Feature 2 — Recovery Score (0–100)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1349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Transparent, if-based formula — no black 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Sleep check-in </a:t>
            </a:r>
            <a:r>
              <a:rPr sz="1500">
                <a:solidFill>
                  <a:srgbClr val="52525B"/>
                </a:solidFill>
                <a:latin typeface="Calibri"/>
              </a:rPr>
              <a:t>40%  — hours slept, if-banded to a 0–100 sub-score.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Resting heart rate </a:t>
            </a:r>
            <a:r>
              <a:rPr sz="1500">
                <a:solidFill>
                  <a:srgbClr val="52525B"/>
                </a:solidFill>
                <a:latin typeface="Calibri"/>
              </a:rPr>
              <a:t>25%  — vs. personal baseline (BLE or manual).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Fatigue check-in </a:t>
            </a:r>
            <a:r>
              <a:rPr sz="1500">
                <a:solidFill>
                  <a:srgbClr val="52525B"/>
                </a:solidFill>
                <a:latin typeface="Calibri"/>
              </a:rPr>
              <a:t>20%  — 1–5 subjective feel.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Recent training load </a:t>
            </a:r>
            <a:r>
              <a:rPr sz="1500">
                <a:solidFill>
                  <a:srgbClr val="52525B"/>
                </a:solidFill>
                <a:latin typeface="Calibri"/>
              </a:rPr>
              <a:t>15%  — last-7-days volume vs. personal average.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Data sources are layered </a:t>
            </a:r>
            <a:r>
              <a:rPr sz="1500">
                <a:solidFill>
                  <a:srgbClr val="52525B"/>
                </a:solidFill>
                <a:latin typeface="Calibri"/>
              </a:rPr>
              <a:t>forms (no hardware) + BLE (optional) + local history.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Output </a:t>
            </a:r>
            <a:r>
              <a:rPr sz="1500">
                <a:solidFill>
                  <a:srgbClr val="52525B"/>
                </a:solidFill>
                <a:latin typeface="Calibri"/>
              </a:rPr>
              <a:t>high / medium / low intensity; &lt;40 for 3 days → rest-day warning.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645920"/>
            <a:ext cx="49377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/>
            <a:r>
              <a:rPr sz="1600" b="1">
                <a:solidFill>
                  <a:srgbClr val="02743B"/>
                </a:solidFill>
                <a:latin typeface="Calibri"/>
              </a:rPr>
              <a:t>Recovery = 0.40·sleep + 0.25·HR + 0.20·fatigue + 0.15·load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2525B"/>
                </a:solidFill>
                <a:latin typeface="Calibri"/>
              </a:rPr>
              <a:t>Sleep ≥ 8 h → 100   |   6 h → 60   |   4 h → 20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2525B"/>
                </a:solidFill>
                <a:latin typeface="Calibri"/>
              </a:rPr>
              <a:t>HR ≤ baseline → 100   |   +10 bpm → 40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52525B"/>
                </a:solidFill>
                <a:latin typeface="Calibri"/>
              </a:rPr>
              <a:t>Fatigue 1 (“fresh”) → 100   |   5 (“exhausted”) →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4114800"/>
            <a:ext cx="1207008" cy="777240"/>
          </a:xfrm>
          <a:prstGeom prst="roundRect">
            <a:avLst/>
          </a:prstGeom>
          <a:solidFill>
            <a:srgbClr val="0FD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≥ 80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High intensity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64424" y="4114800"/>
            <a:ext cx="1207008" cy="777240"/>
          </a:xfrm>
          <a:prstGeom prst="roundRect">
            <a:avLst/>
          </a:prstGeom>
          <a:solidFill>
            <a:srgbClr val="027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60–79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Medium intensity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08008" y="4114800"/>
            <a:ext cx="1207008" cy="777240"/>
          </a:xfrm>
          <a:prstGeom prst="roundRect">
            <a:avLst/>
          </a:prstGeom>
          <a:solidFill>
            <a:srgbClr val="0F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40–59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Low intensity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51592" y="4114800"/>
            <a:ext cx="1207008" cy="777240"/>
          </a:xfrm>
          <a:prstGeom prst="roundRect">
            <a:avLst/>
          </a:prstGeom>
          <a:solidFill>
            <a:srgbClr val="FFB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&lt; 40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Rest / warning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8307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08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Feature 3 — On-Device Pose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AI used where it is strong: seeing your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035040" cy="2343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Model </a:t>
            </a:r>
            <a:r>
              <a:rPr sz="1500" dirty="0" err="1">
                <a:solidFill>
                  <a:srgbClr val="52525B"/>
                </a:solidFill>
                <a:latin typeface="Calibri"/>
              </a:rPr>
              <a:t>TensorFlow</a:t>
            </a:r>
            <a:r>
              <a:rPr sz="1500" dirty="0">
                <a:solidFill>
                  <a:srgbClr val="52525B"/>
                </a:solidFill>
                <a:latin typeface="Calibri"/>
              </a:rPr>
              <a:t> Lite + </a:t>
            </a:r>
            <a:r>
              <a:rPr sz="1500" dirty="0" err="1">
                <a:solidFill>
                  <a:srgbClr val="52525B"/>
                </a:solidFill>
                <a:latin typeface="Calibri"/>
              </a:rPr>
              <a:t>MoveNet</a:t>
            </a:r>
            <a:r>
              <a:rPr sz="1500" dirty="0">
                <a:solidFill>
                  <a:srgbClr val="52525B"/>
                </a:solidFill>
                <a:latin typeface="Calibri"/>
              </a:rPr>
              <a:t>, runs fully on-device — offline, free, explainable.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Rep counting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bench press reps auto-detected from the pose stream.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Form quality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joint angles (shoulder / elbow / knee) decide if a rep is standard.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Voice feedback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TTS: “Rep 5 — keep elbows tucked”, in Chinese, offline.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Extensions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squat, plank, jump-rope </a:t>
            </a:r>
            <a:r>
              <a:rPr sz="1500" dirty="0" smtClean="0">
                <a:solidFill>
                  <a:srgbClr val="52525B"/>
                </a:solidFill>
                <a:latin typeface="Calibri"/>
              </a:rPr>
              <a:t>counting.</a:t>
            </a:r>
            <a:endParaRPr sz="1500" dirty="0">
              <a:solidFill>
                <a:srgbClr val="52525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0" y="141732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2743B"/>
                </a:solidFill>
                <a:latin typeface="Calibri"/>
              </a:rPr>
              <a:t>Joint angles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39" y="2834640"/>
            <a:ext cx="2314089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Shoulder ≈ 90°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52525B"/>
                </a:solidFill>
                <a:latin typeface="Calibri"/>
              </a:rPr>
              <a:t>Elbow ~150° → too wide = bad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394960"/>
            <a:ext cx="2286000" cy="310896"/>
          </a:xfrm>
          <a:prstGeom prst="roundRect">
            <a:avLst/>
          </a:prstGeom>
          <a:solidFill>
            <a:srgbClr val="E5FFF2"/>
          </a:solidFill>
          <a:ln w="1270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25400" bIns="25400" rtlCol="0" anchor="ctr"/>
          <a:lstStyle/>
          <a:p>
            <a:pPr algn="ctr"/>
            <a:r>
              <a:rPr sz="1200" b="1" dirty="0">
                <a:solidFill>
                  <a:srgbClr val="02743B"/>
                </a:solidFill>
                <a:latin typeface="Calibri"/>
              </a:rPr>
              <a:t>Visual: skeleton overlay on camera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2607868"/>
            <a:ext cx="0" cy="987552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169249" y="3595420"/>
            <a:ext cx="197511" cy="901142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169249" y="4496562"/>
            <a:ext cx="98755" cy="740664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66760" y="3595420"/>
            <a:ext cx="197510" cy="901142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8465515" y="4496562"/>
            <a:ext cx="98755" cy="740664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7848295" y="2681935"/>
            <a:ext cx="518465" cy="49377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48295" y="2731312"/>
            <a:ext cx="296265" cy="530810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366760" y="2681935"/>
            <a:ext cx="518464" cy="49377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588959" y="2731312"/>
            <a:ext cx="296265" cy="530810"/>
          </a:xfrm>
          <a:prstGeom prst="line">
            <a:avLst/>
          </a:prstGeom>
          <a:ln w="38100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848295" y="2583180"/>
            <a:ext cx="123444" cy="148132"/>
          </a:xfrm>
          <a:prstGeom prst="line">
            <a:avLst/>
          </a:prstGeom>
          <a:ln w="26669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48295" y="2731312"/>
            <a:ext cx="123444" cy="148133"/>
          </a:xfrm>
          <a:prstGeom prst="line">
            <a:avLst/>
          </a:prstGeom>
          <a:ln w="26669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 flipV="1">
            <a:off x="8761780" y="2583180"/>
            <a:ext cx="123444" cy="148132"/>
          </a:xfrm>
          <a:prstGeom prst="line">
            <a:avLst/>
          </a:prstGeom>
          <a:ln w="26669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761780" y="2731312"/>
            <a:ext cx="123444" cy="148133"/>
          </a:xfrm>
          <a:prstGeom prst="line">
            <a:avLst/>
          </a:prstGeom>
          <a:ln w="26669">
            <a:solidFill>
              <a:srgbClr val="0274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247888" y="2093976"/>
            <a:ext cx="237744" cy="237744"/>
          </a:xfrm>
          <a:prstGeom prst="ellipse">
            <a:avLst/>
          </a:prstGeom>
          <a:solidFill>
            <a:srgbClr val="02743B"/>
          </a:solidFill>
          <a:ln w="15240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298865" y="2539974"/>
            <a:ext cx="135788" cy="135788"/>
          </a:xfrm>
          <a:prstGeom prst="ellipse">
            <a:avLst/>
          </a:prstGeom>
          <a:solidFill>
            <a:srgbClr val="02743B"/>
          </a:solidFill>
          <a:ln w="9525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298865" y="3527526"/>
            <a:ext cx="135788" cy="135788"/>
          </a:xfrm>
          <a:prstGeom prst="ellipse">
            <a:avLst/>
          </a:prstGeom>
          <a:solidFill>
            <a:srgbClr val="02743B"/>
          </a:solidFill>
          <a:ln w="9525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01355" y="4428667"/>
            <a:ext cx="135788" cy="135788"/>
          </a:xfrm>
          <a:prstGeom prst="ellipse">
            <a:avLst/>
          </a:prstGeom>
          <a:solidFill>
            <a:srgbClr val="02743B"/>
          </a:solidFill>
          <a:ln w="9525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496376" y="4428667"/>
            <a:ext cx="135788" cy="135788"/>
          </a:xfrm>
          <a:prstGeom prst="ellipse">
            <a:avLst/>
          </a:prstGeom>
          <a:solidFill>
            <a:srgbClr val="02743B"/>
          </a:solidFill>
          <a:ln w="9525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780401" y="2663418"/>
            <a:ext cx="135788" cy="135788"/>
          </a:xfrm>
          <a:prstGeom prst="ellipse">
            <a:avLst/>
          </a:prstGeom>
          <a:solidFill>
            <a:srgbClr val="02743B"/>
          </a:solidFill>
          <a:ln w="9525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817330" y="2663418"/>
            <a:ext cx="135788" cy="135788"/>
          </a:xfrm>
          <a:prstGeom prst="ellipse">
            <a:avLst/>
          </a:prstGeom>
          <a:solidFill>
            <a:srgbClr val="02743B"/>
          </a:solidFill>
          <a:ln w="9525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51392" y="27614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2743B"/>
                </a:solidFill>
                <a:latin typeface="Calibri"/>
              </a:rPr>
              <a:t>~90°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02529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09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Feature 4 — Running &amp; The Closed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0241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Data does not sit still: it makes tomorrow smarter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Running session </a:t>
            </a:r>
            <a:r>
              <a:rPr sz="1500">
                <a:solidFill>
                  <a:srgbClr val="52525B"/>
                </a:solidFill>
                <a:latin typeface="Calibri"/>
              </a:rPr>
              <a:t>GPS distance / pace (GAODE / osmdroid) + BLE heart-rate curve + voice milestones.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AQI awareness </a:t>
            </a:r>
            <a:r>
              <a:rPr sz="1500">
                <a:solidFill>
                  <a:srgbClr val="52525B"/>
                </a:solidFill>
                <a:latin typeface="Calibri"/>
              </a:rPr>
              <a:t>polluted air quality → outdoor run automatically switches to an indoor plan.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Closed loop </a:t>
            </a:r>
            <a:r>
              <a:rPr sz="1500">
                <a:solidFill>
                  <a:srgbClr val="52525B"/>
                </a:solidFill>
                <a:latin typeface="Calibri"/>
              </a:rPr>
              <a:t>today's workout → stored → recovery score updates → tomorrow's intensity adjusts.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One database </a:t>
            </a:r>
            <a:r>
              <a:rPr sz="1500">
                <a:solidFill>
                  <a:srgbClr val="52525B"/>
                </a:solidFill>
                <a:latin typeface="Calibri"/>
              </a:rPr>
              <a:t>running + strength + HIIT all in Room; charts unify the 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94560"/>
            <a:ext cx="21488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Today's workout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2194560"/>
            <a:ext cx="21488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Store in Room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3931920"/>
            <a:ext cx="21488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Update recovery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931920"/>
            <a:ext cx="21488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2743B"/>
                </a:solidFill>
                <a:latin typeface="Calibri"/>
              </a:rPr>
              <a:t>Tomorrow's plan</a:t>
            </a:r>
          </a:p>
        </p:txBody>
      </p:sp>
      <p:sp>
        <p:nvSpPr>
          <p:cNvPr id="13" name="右箭头 12"/>
          <p:cNvSpPr/>
          <p:nvPr/>
        </p:nvSpPr>
        <p:spPr>
          <a:xfrm>
            <a:off x="9574306" y="2575112"/>
            <a:ext cx="167341" cy="19199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10775576" y="3322918"/>
            <a:ext cx="233083" cy="28896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左箭头 15"/>
          <p:cNvSpPr/>
          <p:nvPr/>
        </p:nvSpPr>
        <p:spPr>
          <a:xfrm>
            <a:off x="9526494" y="4291106"/>
            <a:ext cx="173318" cy="179294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10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Proposed UI —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73388"/>
            <a:ext cx="111556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UI </a:t>
            </a:r>
            <a:r>
              <a:rPr sz="1300" b="0" i="0" dirty="0" smtClean="0">
                <a:solidFill>
                  <a:srgbClr val="52525B"/>
                </a:solidFill>
                <a:latin typeface="Calibri"/>
              </a:rPr>
              <a:t>mockups: complete</a:t>
            </a:r>
            <a:r>
              <a:rPr sz="1300" b="0" i="0" dirty="0">
                <a:solidFill>
                  <a:srgbClr val="52525B"/>
                </a:solidFill>
                <a:latin typeface="Calibri"/>
              </a:rPr>
              <a:t>, </a:t>
            </a:r>
            <a:r>
              <a:rPr sz="1300" b="0" i="0" dirty="0" smtClean="0">
                <a:solidFill>
                  <a:srgbClr val="52525B"/>
                </a:solidFill>
                <a:latin typeface="Calibri"/>
              </a:rPr>
              <a:t>polished</a:t>
            </a:r>
            <a:endParaRPr sz="1300" b="0" i="0" dirty="0">
              <a:solidFill>
                <a:srgbClr val="52525B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286000" cy="4206240"/>
          </a:xfrm>
          <a:prstGeom prst="roundRect">
            <a:avLst/>
          </a:prstGeom>
          <a:solidFill>
            <a:srgbClr val="111114"/>
          </a:solidFill>
          <a:ln w="1905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3816" y="1709928"/>
            <a:ext cx="2121408" cy="3986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02743B"/>
                </a:solidFill>
                <a:latin typeface="Calibri"/>
              </a:rPr>
              <a:t>FitPilot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71717"/>
                </a:solidFill>
                <a:latin typeface="Calibri"/>
              </a:rPr>
              <a:t>Where do you usually train?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834640"/>
            <a:ext cx="1828800" cy="411480"/>
          </a:xfrm>
          <a:prstGeom prst="roundRect">
            <a:avLst/>
          </a:prstGeom>
          <a:solidFill>
            <a:srgbClr val="E5FFF2"/>
          </a:solidFill>
          <a:ln w="1270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2743B"/>
                </a:solidFill>
                <a:latin typeface="Calibri"/>
              </a:rPr>
              <a:t>Home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33756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2525B"/>
                </a:solidFill>
                <a:latin typeface="Calibri"/>
              </a:rPr>
              <a:t>Gym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84048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52525B"/>
                </a:solidFill>
                <a:latin typeface="Calibri"/>
              </a:rPr>
              <a:t>Both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074920"/>
            <a:ext cx="1828800" cy="457200"/>
          </a:xfrm>
          <a:prstGeom prst="roundRect">
            <a:avLst/>
          </a:prstGeom>
          <a:solidFill>
            <a:srgbClr val="0FD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2743B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91640"/>
            <a:ext cx="8138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 dirty="0">
                <a:solidFill>
                  <a:srgbClr val="171717"/>
                </a:solidFill>
                <a:latin typeface="Calibri"/>
              </a:rPr>
              <a:t>Why this screen </a:t>
            </a:r>
            <a:r>
              <a:rPr sz="1800" b="1" i="0" dirty="0" smtClean="0">
                <a:solidFill>
                  <a:srgbClr val="171717"/>
                </a:solidFill>
                <a:latin typeface="Calibri"/>
              </a:rPr>
              <a:t>matter</a:t>
            </a:r>
            <a:r>
              <a:rPr lang="en-US" sz="1800" b="1" i="0" dirty="0" smtClean="0">
                <a:solidFill>
                  <a:srgbClr val="171717"/>
                </a:solidFill>
                <a:latin typeface="Calibri"/>
              </a:rPr>
              <a:t>s</a:t>
            </a:r>
            <a:endParaRPr sz="1800" b="1" i="0" dirty="0">
              <a:solidFill>
                <a:srgbClr val="171717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474720" y="2240280"/>
            <a:ext cx="8138160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</a:t>
            </a:r>
            <a:r>
              <a:rPr lang="en-US" altLang="zh-CN" sz="1500" b="1" dirty="0" smtClean="0">
                <a:solidFill>
                  <a:srgbClr val="171717"/>
                </a:solidFill>
                <a:latin typeface="Calibri"/>
              </a:rPr>
              <a:t>Q</a:t>
            </a:r>
            <a:r>
              <a:rPr sz="1500" b="1" dirty="0" smtClean="0">
                <a:solidFill>
                  <a:srgbClr val="171717"/>
                </a:solidFill>
                <a:latin typeface="Calibri"/>
              </a:rPr>
              <a:t>uestion </a:t>
            </a:r>
            <a:r>
              <a:rPr sz="1500" b="1" dirty="0">
                <a:solidFill>
                  <a:srgbClr val="171717"/>
                </a:solidFill>
                <a:latin typeface="Calibri"/>
              </a:rPr>
              <a:t>wizard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scene → equipment → goal → frequency → experience; one step per screen.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Direct benefits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profile feeds the recommendation engine's hard filter from day one.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Interaction design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selection cards, progress indicator, validation, easy back-navigation.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Accessibility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large touch targets, high contrast, </a:t>
            </a:r>
            <a:r>
              <a:rPr sz="1500" dirty="0" err="1">
                <a:solidFill>
                  <a:srgbClr val="52525B"/>
                </a:solidFill>
                <a:latin typeface="Calibri"/>
              </a:rPr>
              <a:t>TalkBack</a:t>
            </a:r>
            <a:r>
              <a:rPr sz="1500" dirty="0">
                <a:solidFill>
                  <a:srgbClr val="52525B"/>
                </a:solidFill>
                <a:latin typeface="Calibri"/>
              </a:rPr>
              <a:t> content descriptions.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88425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11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Proposed UI — Today's Plan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One screen that answers: what should I do today?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286000" cy="4206240"/>
          </a:xfrm>
          <a:prstGeom prst="roundRect">
            <a:avLst/>
          </a:prstGeom>
          <a:solidFill>
            <a:srgbClr val="111114"/>
          </a:solidFill>
          <a:ln w="1905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3816" y="1709928"/>
            <a:ext cx="2121408" cy="3986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1920240"/>
            <a:ext cx="914400" cy="914400"/>
          </a:xfrm>
          <a:prstGeom prst="ellipse">
            <a:avLst/>
          </a:prstGeom>
          <a:solidFill>
            <a:srgbClr val="E5FFF2"/>
          </a:solidFill>
          <a:ln w="50800">
            <a:solidFill>
              <a:srgbClr val="027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16712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2743B"/>
                </a:solidFill>
                <a:latin typeface="Calibri"/>
              </a:rPr>
              <a:t>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945803"/>
            <a:ext cx="1828800" cy="548640"/>
          </a:xfrm>
          <a:prstGeom prst="roundRect">
            <a:avLst/>
          </a:prstGeom>
          <a:solidFill>
            <a:srgbClr val="E8F4FD"/>
          </a:solidFill>
          <a:ln w="12700">
            <a:solidFill>
              <a:srgbClr val="0F6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F6E8C"/>
                </a:solidFill>
                <a:latin typeface="Calibri"/>
              </a:rPr>
              <a:t>☁ Rainy, AQI 155 → indoor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71717"/>
                </a:solidFill>
                <a:latin typeface="Calibri"/>
              </a:rPr>
              <a:t>Today's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873709"/>
            <a:ext cx="18288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100" b="1" dirty="0">
                <a:solidFill>
                  <a:srgbClr val="171717"/>
                </a:solidFill>
                <a:latin typeface="Calibri"/>
              </a:rPr>
              <a:t>Bench Press</a:t>
            </a:r>
          </a:p>
          <a:p>
            <a:r>
              <a:rPr sz="1000" dirty="0">
                <a:solidFill>
                  <a:srgbClr val="52525B"/>
                </a:solidFill>
                <a:latin typeface="Calibri"/>
              </a:rPr>
              <a:t>4 × 8  ·  barbell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4465858"/>
            <a:ext cx="182880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ctr"/>
            <a:r>
              <a:rPr sz="1100" b="1" dirty="0">
                <a:solidFill>
                  <a:srgbClr val="171717"/>
                </a:solidFill>
                <a:latin typeface="Calibri"/>
              </a:rPr>
              <a:t>Incline Dumbbell</a:t>
            </a:r>
          </a:p>
          <a:p>
            <a:r>
              <a:rPr sz="1000" dirty="0">
                <a:solidFill>
                  <a:srgbClr val="52525B"/>
                </a:solidFill>
                <a:latin typeface="Calibri"/>
              </a:rPr>
              <a:t>3 × 10  ·  dumbbells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150224"/>
            <a:ext cx="1828800" cy="457200"/>
          </a:xfrm>
          <a:prstGeom prst="roundRect">
            <a:avLst/>
          </a:prstGeom>
          <a:solidFill>
            <a:srgbClr val="0FD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02743B"/>
                </a:solidFill>
                <a:latin typeface="Calibri"/>
              </a:rPr>
              <a:t>Start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91640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71717"/>
                </a:solidFill>
                <a:latin typeface="Calibri"/>
              </a:rPr>
              <a:t>Why this screen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40280"/>
            <a:ext cx="8138160" cy="1101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Recovery ring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instant glance at how fresh you are today.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Weather / AQI banner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explains the “why” behind an indoor plan — trust through transparency.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Ranked cards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exercise, sets × reps, equipment; one tap to start</a:t>
            </a:r>
            <a:r>
              <a:rPr sz="1500" dirty="0" smtClean="0">
                <a:solidFill>
                  <a:srgbClr val="52525B"/>
                </a:solidFill>
                <a:latin typeface="Calibri"/>
              </a:rPr>
              <a:t>.</a:t>
            </a:r>
            <a:endParaRPr sz="1500" dirty="0">
              <a:solidFill>
                <a:srgbClr val="52525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12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Proposed UI — Strength Session (Pose Overlay)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85341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Live camera + skeleton + rep counter + 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286000" cy="4206240"/>
          </a:xfrm>
          <a:prstGeom prst="roundRect">
            <a:avLst/>
          </a:prstGeom>
          <a:solidFill>
            <a:srgbClr val="111114"/>
          </a:solidFill>
          <a:ln w="1905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3816" y="1709928"/>
            <a:ext cx="2121408" cy="3986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3816" y="1709928"/>
            <a:ext cx="2121408" cy="237744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371600" y="1737360"/>
            <a:ext cx="1005840" cy="457200"/>
          </a:xfrm>
          <a:prstGeom prst="roundRect">
            <a:avLst/>
          </a:prstGeom>
          <a:solidFill>
            <a:srgbClr val="0FD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2743B"/>
                </a:solidFill>
                <a:latin typeface="Calibri"/>
              </a:rPr>
              <a:t>Rep 5 /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02743B"/>
                </a:solidFill>
                <a:latin typeface="Calibri"/>
              </a:rPr>
              <a:t>✓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EFAA17"/>
                </a:solidFill>
                <a:latin typeface="Calibri"/>
              </a:rPr>
              <a:t>⚠ Keep elbows tucked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029200"/>
            <a:ext cx="1828800" cy="594360"/>
          </a:xfrm>
          <a:prstGeom prst="roundRect">
            <a:avLst/>
          </a:prstGeom>
          <a:solidFill>
            <a:srgbClr val="F7F7F8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>
                <a:solidFill>
                  <a:srgbClr val="171717"/>
                </a:solidFill>
                <a:latin typeface="Calibri"/>
              </a:rPr>
              <a:t>TTS: “Rep 6 — keep elbows tucked”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1691640"/>
            <a:ext cx="8138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 dirty="0">
                <a:solidFill>
                  <a:srgbClr val="171717"/>
                </a:solidFill>
                <a:latin typeface="Calibri"/>
              </a:rPr>
              <a:t>Why this screen </a:t>
            </a:r>
            <a:r>
              <a:rPr sz="1800" b="1" i="0" dirty="0" smtClean="0">
                <a:solidFill>
                  <a:srgbClr val="171717"/>
                </a:solidFill>
                <a:latin typeface="Calibri"/>
              </a:rPr>
              <a:t>matters</a:t>
            </a:r>
            <a:endParaRPr sz="1800" b="1" i="0" dirty="0">
              <a:solidFill>
                <a:srgbClr val="171717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0" y="2240280"/>
            <a:ext cx="8138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Dual visual cues </a:t>
            </a:r>
            <a:r>
              <a:rPr sz="1500">
                <a:solidFill>
                  <a:srgbClr val="52525B"/>
                </a:solidFill>
                <a:latin typeface="Calibri"/>
              </a:rPr>
              <a:t>skeleton overlay + colour-coded form status per rep.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Big typography </a:t>
            </a:r>
            <a:r>
              <a:rPr sz="1500">
                <a:solidFill>
                  <a:srgbClr val="52525B"/>
                </a:solidFill>
                <a:latin typeface="Calibri"/>
              </a:rPr>
              <a:t>rep counter readable mid-workout at arm's length.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Voice channel </a:t>
            </a:r>
            <a:r>
              <a:rPr sz="1500">
                <a:solidFill>
                  <a:srgbClr val="52525B"/>
                </a:solidFill>
                <a:latin typeface="Calibri"/>
              </a:rPr>
              <a:t>TTS announcements let eyes stay on the exercise.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171717"/>
                </a:solidFill>
                <a:latin typeface="Calibri"/>
              </a:rPr>
              <a:t>•  End screen </a:t>
            </a:r>
            <a:r>
              <a:rPr sz="1500">
                <a:solidFill>
                  <a:srgbClr val="52525B"/>
                </a:solidFill>
                <a:latin typeface="Calibri"/>
              </a:rPr>
              <a:t>session summary: reps, sets, form quality — goes to stats.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74519" y="2520086"/>
            <a:ext cx="0" cy="768096"/>
          </a:xfrm>
          <a:prstGeom prst="line">
            <a:avLst/>
          </a:prstGeom>
          <a:ln w="381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720900" y="3288182"/>
            <a:ext cx="153619" cy="700888"/>
          </a:xfrm>
          <a:prstGeom prst="line">
            <a:avLst/>
          </a:prstGeom>
          <a:ln w="381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874519" y="3288182"/>
            <a:ext cx="153620" cy="700888"/>
          </a:xfrm>
          <a:prstGeom prst="line">
            <a:avLst/>
          </a:prstGeom>
          <a:ln w="381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471269" y="2577693"/>
            <a:ext cx="403250" cy="38405"/>
          </a:xfrm>
          <a:prstGeom prst="line">
            <a:avLst/>
          </a:prstGeom>
          <a:ln w="381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471269" y="2616098"/>
            <a:ext cx="230429" cy="412852"/>
          </a:xfrm>
          <a:prstGeom prst="line">
            <a:avLst/>
          </a:prstGeom>
          <a:ln w="381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874519" y="2577693"/>
            <a:ext cx="403251" cy="38405"/>
          </a:xfrm>
          <a:prstGeom prst="line">
            <a:avLst/>
          </a:prstGeom>
          <a:ln w="381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047341" y="2616098"/>
            <a:ext cx="230429" cy="412852"/>
          </a:xfrm>
          <a:prstGeom prst="line">
            <a:avLst/>
          </a:prstGeom>
          <a:ln w="381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471269" y="2500884"/>
            <a:ext cx="96012" cy="115214"/>
          </a:xfrm>
          <a:prstGeom prst="line">
            <a:avLst/>
          </a:prstGeom>
          <a:ln w="26669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471269" y="2616098"/>
            <a:ext cx="96012" cy="115214"/>
          </a:xfrm>
          <a:prstGeom prst="line">
            <a:avLst/>
          </a:prstGeom>
          <a:ln w="26669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2181758" y="2500884"/>
            <a:ext cx="96012" cy="115214"/>
          </a:xfrm>
          <a:prstGeom prst="line">
            <a:avLst/>
          </a:prstGeom>
          <a:ln w="26669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2181758" y="2616098"/>
            <a:ext cx="96012" cy="115214"/>
          </a:xfrm>
          <a:prstGeom prst="line">
            <a:avLst/>
          </a:prstGeom>
          <a:ln w="26669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755648" y="2194560"/>
            <a:ext cx="237744" cy="237744"/>
          </a:xfrm>
          <a:prstGeom prst="ellipse">
            <a:avLst/>
          </a:prstGeom>
          <a:solidFill>
            <a:srgbClr val="0FDC78"/>
          </a:solidFill>
          <a:ln w="15240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821713" y="2467279"/>
            <a:ext cx="105613" cy="105613"/>
          </a:xfrm>
          <a:prstGeom prst="ellipse">
            <a:avLst/>
          </a:prstGeom>
          <a:solidFill>
            <a:srgbClr val="0FDC78"/>
          </a:solidFill>
          <a:ln w="9525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821713" y="3235375"/>
            <a:ext cx="105613" cy="105613"/>
          </a:xfrm>
          <a:prstGeom prst="ellipse">
            <a:avLst/>
          </a:prstGeom>
          <a:solidFill>
            <a:srgbClr val="0FDC78"/>
          </a:solidFill>
          <a:ln w="9525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668094" y="3936263"/>
            <a:ext cx="105613" cy="105613"/>
          </a:xfrm>
          <a:prstGeom prst="ellipse">
            <a:avLst/>
          </a:prstGeom>
          <a:solidFill>
            <a:srgbClr val="0FDC78"/>
          </a:solidFill>
          <a:ln w="9525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975332" y="3936263"/>
            <a:ext cx="105613" cy="105613"/>
          </a:xfrm>
          <a:prstGeom prst="ellipse">
            <a:avLst/>
          </a:prstGeom>
          <a:solidFill>
            <a:srgbClr val="0FDC78"/>
          </a:solidFill>
          <a:ln w="9525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418462" y="2563291"/>
            <a:ext cx="105613" cy="105613"/>
          </a:xfrm>
          <a:prstGeom prst="ellipse">
            <a:avLst/>
          </a:prstGeom>
          <a:solidFill>
            <a:srgbClr val="0FDC78"/>
          </a:solidFill>
          <a:ln w="9525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224963" y="2563291"/>
            <a:ext cx="105613" cy="105613"/>
          </a:xfrm>
          <a:prstGeom prst="ellipse">
            <a:avLst/>
          </a:prstGeom>
          <a:solidFill>
            <a:srgbClr val="0FDC78"/>
          </a:solidFill>
          <a:ln w="9525">
            <a:solidFill>
              <a:srgbClr val="0FDC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13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Proposed UI — Running Page &amp; Unified Stats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79364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Real-time feedback while moving; trends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286000" cy="4206240"/>
          </a:xfrm>
          <a:prstGeom prst="roundRect">
            <a:avLst/>
          </a:prstGeom>
          <a:solidFill>
            <a:srgbClr val="111114"/>
          </a:solidFill>
          <a:ln w="1905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3816" y="1709928"/>
            <a:ext cx="2121408" cy="3986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171717"/>
                </a:solidFill>
                <a:latin typeface="Calibri"/>
              </a:rPr>
              <a:t>Running  ·  07:42 / km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2566057"/>
            <a:ext cx="292608" cy="329184"/>
          </a:xfrm>
          <a:prstGeom prst="line">
            <a:avLst/>
          </a:prstGeom>
          <a:ln w="254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298448" y="2240280"/>
            <a:ext cx="292608" cy="329184"/>
          </a:xfrm>
          <a:prstGeom prst="line">
            <a:avLst/>
          </a:prstGeom>
          <a:ln w="254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591056" y="2260779"/>
            <a:ext cx="292608" cy="493776"/>
          </a:xfrm>
          <a:prstGeom prst="line">
            <a:avLst/>
          </a:prstGeom>
          <a:ln w="254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883664" y="2423160"/>
            <a:ext cx="292608" cy="329184"/>
          </a:xfrm>
          <a:prstGeom prst="line">
            <a:avLst/>
          </a:prstGeom>
          <a:ln w="254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76272" y="2423160"/>
            <a:ext cx="292608" cy="493776"/>
          </a:xfrm>
          <a:prstGeom prst="line">
            <a:avLst/>
          </a:prstGeom>
          <a:ln w="25400">
            <a:solidFill>
              <a:srgbClr val="0FDC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0120" y="3154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2743B"/>
                </a:solidFill>
                <a:latin typeface="Calibri"/>
              </a:rPr>
              <a:t>HR 148 bpm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Distance 3.2 km  ·  Pace 7'42"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600200"/>
            <a:ext cx="2286000" cy="4206240"/>
          </a:xfrm>
          <a:prstGeom prst="roundRect">
            <a:avLst/>
          </a:prstGeom>
          <a:solidFill>
            <a:srgbClr val="111114"/>
          </a:solidFill>
          <a:ln w="19050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74136" y="1709928"/>
            <a:ext cx="2121408" cy="39867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0440" y="1874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71717"/>
                </a:solidFill>
                <a:latin typeface="Calibri"/>
              </a:rPr>
              <a:t>This week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28600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000">
                <a:solidFill>
                  <a:srgbClr val="52525B"/>
                </a:solidFill>
                <a:latin typeface="Calibri"/>
              </a:rPr>
              <a:t>Training load</a:t>
            </a:r>
          </a:p>
          <a:p>
            <a:r>
              <a:rPr sz="1200" b="1">
                <a:solidFill>
                  <a:srgbClr val="171717"/>
                </a:solidFill>
                <a:latin typeface="Calibri"/>
              </a:rPr>
              <a:t>4 sessions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278892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000">
                <a:solidFill>
                  <a:srgbClr val="52525B"/>
                </a:solidFill>
                <a:latin typeface="Calibri"/>
              </a:rPr>
              <a:t>Distance</a:t>
            </a:r>
          </a:p>
          <a:p>
            <a:r>
              <a:rPr sz="1200" b="1">
                <a:solidFill>
                  <a:srgbClr val="171717"/>
                </a:solidFill>
                <a:latin typeface="Calibri"/>
              </a:rPr>
              <a:t>18.5 km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29184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000">
                <a:solidFill>
                  <a:srgbClr val="52525B"/>
                </a:solidFill>
                <a:latin typeface="Calibri"/>
              </a:rPr>
              <a:t>Recovery trend</a:t>
            </a:r>
          </a:p>
          <a:p>
            <a:r>
              <a:rPr sz="1200" b="1">
                <a:solidFill>
                  <a:srgbClr val="171717"/>
                </a:solidFill>
                <a:latin typeface="Calibri"/>
              </a:rPr>
              <a:t>↗ improving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3794760"/>
            <a:ext cx="182880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/>
            <a:r>
              <a:rPr sz="1000">
                <a:solidFill>
                  <a:srgbClr val="52525B"/>
                </a:solidFill>
                <a:latin typeface="Calibri"/>
              </a:rPr>
              <a:t>Streak</a:t>
            </a:r>
          </a:p>
          <a:p>
            <a:r>
              <a:rPr sz="1200" b="1">
                <a:solidFill>
                  <a:srgbClr val="171717"/>
                </a:solidFill>
                <a:latin typeface="Calibri"/>
              </a:rPr>
              <a:t>6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69164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71717"/>
                </a:solidFill>
                <a:latin typeface="Calibri"/>
              </a:rPr>
              <a:t>Why these screens matter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240280"/>
            <a:ext cx="5669280" cy="157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Running page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live HR curve, distance / pace, map track, voice milestones.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Unified stats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one place for volume, distance, recovery trend, streak — filter by scenario.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171717"/>
                </a:solidFill>
                <a:latin typeface="Calibri"/>
              </a:rPr>
              <a:t>•  Charts &amp; </a:t>
            </a:r>
            <a:r>
              <a:rPr sz="1500" b="1" dirty="0" err="1">
                <a:solidFill>
                  <a:srgbClr val="171717"/>
                </a:solidFill>
                <a:latin typeface="Calibri"/>
              </a:rPr>
              <a:t>visualisation</a:t>
            </a:r>
            <a:r>
              <a:rPr sz="1500" b="1" dirty="0">
                <a:solidFill>
                  <a:srgbClr val="171717"/>
                </a:solidFill>
                <a:latin typeface="Calibri"/>
              </a:rPr>
              <a:t> </a:t>
            </a:r>
            <a:r>
              <a:rPr sz="1500" dirty="0">
                <a:solidFill>
                  <a:srgbClr val="52525B"/>
                </a:solidFill>
                <a:latin typeface="Calibri"/>
              </a:rPr>
              <a:t>graphs instead of </a:t>
            </a:r>
            <a:r>
              <a:rPr sz="1500" dirty="0" smtClean="0">
                <a:solidFill>
                  <a:srgbClr val="52525B"/>
                </a:solidFill>
                <a:latin typeface="Calibri"/>
              </a:rPr>
              <a:t>raw</a:t>
            </a:r>
            <a:endParaRPr sz="1500" dirty="0">
              <a:solidFill>
                <a:srgbClr val="52525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14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Tech Stack — Free · On-Device · Mainland-Accessible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92453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Every choice has a reason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109960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6172200"/>
              </a:tblGrid>
              <a:tr h="400507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Tool / API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Why this one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Weather + AQI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QWeather (和风)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Free quota, direct in mainland China, no VPN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Pose AI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TensorFlow Lite + MoveNet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On-device, offline, free — proven by Good Habits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Room (SQLite)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Typed queries, unifies all scenarios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Jetpack Compose + Material 3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Modern declarative UI, dark mode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Retrofit + OkHttp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Clean QWeather calls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Maps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GAODE / osmdroid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Mainland-accessible GPS track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Heart rate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Android BLE API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Local short-range, no cloud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Voice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Android TextToSpeech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171717"/>
                          </a:solidFill>
                          <a:latin typeface="Calibri"/>
                        </a:rPr>
                        <a:t>Built-in, offline, Chinese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00509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MVVM + Repository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1717"/>
                          </a:solidFill>
                          <a:latin typeface="Calibri"/>
                        </a:rPr>
                        <a:t>Follows Good Habits' clean structure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72200"/>
            <a:ext cx="10972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 dirty="0">
                <a:solidFill>
                  <a:srgbClr val="02743B"/>
                </a:solidFill>
                <a:latin typeface="Calibri"/>
              </a:rPr>
              <a:t>Altogether: zero-cost, offline-first, demo-safe — every AI decision is </a:t>
            </a:r>
            <a:r>
              <a:rPr sz="1400" b="1" i="0" dirty="0" smtClean="0">
                <a:solidFill>
                  <a:srgbClr val="02743B"/>
                </a:solidFill>
                <a:latin typeface="Calibri"/>
              </a:rPr>
              <a:t>explainabl</a:t>
            </a:r>
            <a:r>
              <a:rPr lang="en-US" sz="1400" b="1" i="0" dirty="0" smtClean="0">
                <a:solidFill>
                  <a:srgbClr val="02743B"/>
                </a:solidFill>
                <a:latin typeface="Calibri"/>
              </a:rPr>
              <a:t>e</a:t>
            </a:r>
            <a:r>
              <a:rPr sz="1400" b="1" i="0" dirty="0" smtClean="0">
                <a:solidFill>
                  <a:srgbClr val="02743B"/>
                </a:solidFill>
                <a:latin typeface="Calibri"/>
              </a:rPr>
              <a:t>.</a:t>
            </a:r>
            <a:endParaRPr sz="1400" b="1" i="0" dirty="0">
              <a:solidFill>
                <a:srgbClr val="0274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94162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 dirty="0">
                <a:solidFill>
                  <a:srgbClr val="02743B"/>
                </a:solidFill>
                <a:latin typeface="Calibri"/>
              </a:rPr>
              <a:t>15  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 dirty="0">
                <a:solidFill>
                  <a:srgbClr val="171717"/>
                </a:solidFill>
                <a:latin typeface="Calibri"/>
              </a:rPr>
              <a:t>Work Plan — Week 6 to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98429"/>
            <a:ext cx="111556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 dirty="0">
                <a:solidFill>
                  <a:srgbClr val="52525B"/>
                </a:solidFill>
                <a:latin typeface="Calibri"/>
              </a:rPr>
              <a:t>Milestones: Alpha (end of W7), </a:t>
            </a:r>
            <a:r>
              <a:rPr sz="1300" b="0" i="0" dirty="0" smtClean="0">
                <a:solidFill>
                  <a:srgbClr val="52525B"/>
                </a:solidFill>
                <a:latin typeface="Calibri"/>
              </a:rPr>
              <a:t>Beta (end of W10), Final (W1</a:t>
            </a:r>
            <a:r>
              <a:rPr lang="en-US" sz="1300" dirty="0">
                <a:solidFill>
                  <a:srgbClr val="52525B"/>
                </a:solidFill>
                <a:latin typeface="Calibri"/>
              </a:rPr>
              <a:t>4</a:t>
            </a:r>
            <a:r>
              <a:rPr sz="1300" b="0" i="0" dirty="0" smtClean="0">
                <a:solidFill>
                  <a:srgbClr val="52525B"/>
                </a:solidFill>
                <a:latin typeface="Calibri"/>
              </a:rPr>
              <a:t>)</a:t>
            </a:r>
            <a:endParaRPr sz="1300" b="0" i="0" dirty="0">
              <a:solidFill>
                <a:srgbClr val="52525B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11155680" cy="15240"/>
          </a:xfrm>
          <a:prstGeom prst="rect">
            <a:avLst/>
          </a:prstGeom>
          <a:solidFill>
            <a:srgbClr val="DC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109960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498080"/>
                <a:gridCol w="2514600"/>
              </a:tblGrid>
              <a:tr h="433425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73152" marR="73152" marT="18288" marB="18288" anchor="ctr">
                    <a:solidFill>
                      <a:srgbClr val="02743B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Scaffold on Good Habits, tagged dataset, onboarding quiz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Alpha sprint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Alpha: recommendation engine v1 + basic logging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★ Alpha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MoveNet pose: bench-press counting + joint angles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Beta sprint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TTS feedback; running session (GPS, BLE heart rate)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Beta sprint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Beta: real-time form + running/HR loop complete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★ Beta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Recovery Score → closed-loop intensity adjustment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Polish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QWeather AQI, unified charts, UI / dark mode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Polish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433425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Edge cases (no net / BLE / camera), docs, demo script (+bonus)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Hardening</a:t>
                      </a:r>
                    </a:p>
                  </a:txBody>
                  <a:tcPr marL="73152" marR="73152" marT="18288" marB="18288" anchor="ctr">
                    <a:solidFill>
                      <a:srgbClr val="F7F7F8"/>
                    </a:solidFill>
                  </a:tcPr>
                </a:tc>
              </a:tr>
              <a:tr h="433431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Final: video + report + live demo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1717"/>
                          </a:solidFill>
                          <a:latin typeface="Calibri"/>
                        </a:rPr>
                        <a:t>★ Final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71717"/>
                </a:solidFill>
                <a:latin typeface="Calibri"/>
              </a:rPr>
              <a:t>•  Risks handled </a:t>
            </a:r>
            <a:r>
              <a:rPr sz="1300">
                <a:solidFill>
                  <a:srgbClr val="52525B"/>
                </a:solidFill>
                <a:latin typeface="Calibri"/>
              </a:rPr>
              <a:t>no-network, no-BLE, no-camera fallbacks planned for the demo.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71717"/>
                </a:solidFill>
                <a:latin typeface="Calibri"/>
              </a:rPr>
              <a:t>•  Bonus if time </a:t>
            </a:r>
            <a:r>
              <a:rPr sz="1300">
                <a:solidFill>
                  <a:srgbClr val="52525B"/>
                </a:solidFill>
                <a:latin typeface="Calibri"/>
              </a:rPr>
              <a:t>jump-rope / HIIT / stretching (Week 13).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FD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2743B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 i="0">
                <a:solidFill>
                  <a:srgbClr val="171717"/>
                </a:solidFill>
                <a:latin typeface="Calibri"/>
              </a:rPr>
              <a:t>FitPilot — your AI fitness coach that sees, thinks and tracks.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1560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 dirty="0">
                <a:solidFill>
                  <a:srgbClr val="52525B"/>
                </a:solidFill>
                <a:latin typeface="Calibri"/>
              </a:rPr>
              <a:t>GitHub: </a:t>
            </a:r>
            <a:r>
              <a:rPr lang="en-US" sz="1600" dirty="0">
                <a:solidFill>
                  <a:srgbClr val="52525B"/>
                </a:solidFill>
                <a:hlinkClick r:id="rId2"/>
              </a:rPr>
              <a:t>https://</a:t>
            </a:r>
            <a:r>
              <a:rPr lang="en-US" sz="1600" dirty="0" smtClean="0">
                <a:solidFill>
                  <a:srgbClr val="52525B"/>
                </a:solidFill>
                <a:hlinkClick r:id="rId2"/>
              </a:rPr>
              <a:t>github.com/Arthur-118/FitPilot</a:t>
            </a:r>
            <a:endParaRPr lang="en-US" sz="1600" dirty="0" smtClean="0">
              <a:solidFill>
                <a:srgbClr val="52525B"/>
              </a:solidFill>
            </a:endParaRPr>
          </a:p>
          <a:p>
            <a:pPr>
              <a:spcAft>
                <a:spcPts val="600"/>
              </a:spcAft>
            </a:pPr>
            <a:r>
              <a:rPr sz="1600" b="0" i="0" dirty="0" smtClean="0">
                <a:solidFill>
                  <a:srgbClr val="52525B"/>
                </a:solidFill>
                <a:latin typeface="Calibri"/>
              </a:rPr>
              <a:t>Questions welcome</a:t>
            </a:r>
            <a:endParaRPr sz="1600" b="0" i="0" dirty="0">
              <a:solidFill>
                <a:srgbClr val="52525B"/>
              </a:solidFill>
              <a:latin typeface="Calibri"/>
            </a:endParaRPr>
          </a:p>
        </p:txBody>
      </p:sp>
      <p:sp>
        <p:nvSpPr>
          <p:cNvPr id="8" name="Oval 7"/>
          <p:cNvSpPr/>
          <p:nvPr/>
        </p:nvSpPr>
        <p:spPr>
          <a:xfrm>
            <a:off x="9509760" y="1005840"/>
            <a:ext cx="2194560" cy="2194560"/>
          </a:xfrm>
          <a:prstGeom prst="ellipse">
            <a:avLst/>
          </a:prstGeom>
          <a:solidFill>
            <a:srgbClr val="0FDC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21240" y="1417320"/>
            <a:ext cx="1371600" cy="1371600"/>
          </a:xfrm>
          <a:prstGeom prst="ellipse">
            <a:avLst/>
          </a:prstGeom>
          <a:solidFill>
            <a:srgbClr val="E5F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1850</Words>
  <Application>Microsoft Office PowerPoint</Application>
  <PresentationFormat>自定义</PresentationFormat>
  <Paragraphs>275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dc:description>generated using python-pptx</dc:description>
  <cp:lastModifiedBy>Administrator</cp:lastModifiedBy>
  <cp:revision>13</cp:revision>
  <dcterms:created xsi:type="dcterms:W3CDTF">2013-01-27T09:14:16Z</dcterms:created>
  <dcterms:modified xsi:type="dcterms:W3CDTF">2026-10-05T10:36:15Z</dcterms:modified>
</cp:coreProperties>
</file>